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280160"/>
            <a:ext cx="1097280" cy="9144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9966960" cy="4114800"/>
          </a:xfrm>
          <a:prstGeom prst="rect">
            <a:avLst/>
          </a:prstGeom>
          <a:noFill/>
        </p:spPr>
        <p:txBody>
          <a:bodyPr wrap="square">
            <a:spAutoFit/>
          </a:bodyPr>
          <a:lstStyle/>
          <a:p>
            <a:pPr>
              <a:spcAft>
                <a:spcPts val="1400"/>
              </a:spcAft>
              <a:defRPr sz="1300" b="1">
                <a:solidFill>
                  <a:srgbClr val="00A896"/>
                </a:solidFill>
              </a:defRPr>
            </a:pPr>
            <a:r>
              <a:t>EXECUTIVE OVERVIEW &amp; GOVERNANCE</a:t>
            </a:r>
          </a:p>
          <a:p>
            <a:pPr>
              <a:spcAft>
                <a:spcPts val="1400"/>
              </a:spcAft>
              <a:defRPr sz="3200" b="1">
                <a:solidFill>
                  <a:srgbClr val="FFFFFF"/>
                </a:solidFill>
              </a:defRPr>
            </a:pPr>
            <a:r>
              <a:t>Service Level Agreement (SLA) &amp; Tata Kelola Dokumen COA</a:t>
            </a:r>
          </a:p>
          <a:p>
            <a:pPr>
              <a:spcAft>
                <a:spcPts val="2800"/>
              </a:spcAft>
              <a:defRPr sz="1600">
                <a:solidFill>
                  <a:srgbClr val="CBD5E1"/>
                </a:solidFill>
              </a:defRPr>
            </a:pPr>
            <a:r>
              <a:t>Standarisasi Tingkat Layanan Operasional, Kinerja Program Driver ZQMI_COA, &amp; Tata Kelola Mutu Logistik</a:t>
            </a:r>
          </a:p>
          <a:p>
            <a:pPr>
              <a:defRPr sz="1200">
                <a:solidFill>
                  <a:srgbClr val="94A3B8"/>
                </a:solidFill>
              </a:defRPr>
            </a:pPr>
            <a:r>
              <a:t>SAP ABAP &amp; QM Consulting | Trias Sentosa Tbk | Driver ZQMI_COA / ZQM002 / ZQM003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000" b="1">
                <a:solidFill>
                  <a:srgbClr val="00A896"/>
                </a:solidFill>
              </a:defRPr>
            </a:pPr>
            <a:r>
              <a:t>SERVICE LEVEL AGREEMENT (SLA) FRAMEWORK</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B2545"/>
                </a:solidFill>
              </a:defRPr>
            </a:pPr>
            <a:r>
              <a:t>Kerangka Kerja 3 Pilar SLA COA (ZQMI_COA)</a:t>
            </a:r>
          </a:p>
        </p:txBody>
      </p:sp>
      <p:pic>
        <p:nvPicPr>
          <p:cNvPr id="4" name="Picture 3" descr="COA_SLA_Framework.jpg"/>
          <p:cNvPicPr>
            <a:picLocks noChangeAspect="1"/>
          </p:cNvPicPr>
          <p:nvPr/>
        </p:nvPicPr>
        <p:blipFill>
          <a:blip r:embed="rId2"/>
          <a:stretch>
            <a:fillRect/>
          </a:stretch>
        </p:blipFill>
        <p:spPr>
          <a:xfrm>
            <a:off x="731520" y="1371600"/>
            <a:ext cx="6583680" cy="3674612"/>
          </a:xfrm>
          <a:prstGeom prst="rect">
            <a:avLst/>
          </a:prstGeom>
        </p:spPr>
      </p:pic>
      <p:sp>
        <p:nvSpPr>
          <p:cNvPr id="5" name="Rounded Rectangle 4"/>
          <p:cNvSpPr/>
          <p:nvPr/>
        </p:nvSpPr>
        <p:spPr>
          <a:xfrm>
            <a:off x="7498079" y="1371600"/>
            <a:ext cx="3962095" cy="493776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1600" b="1">
                <a:solidFill>
                  <a:srgbClr val="0B2545"/>
                </a:solidFill>
              </a:defRPr>
            </a:pPr>
            <a:r>
              <a:t>Mengapa SLA COA Krusial?</a:t>
            </a:r>
          </a:p>
          <a:p>
            <a:pPr>
              <a:spcAft>
                <a:spcPts val="200"/>
              </a:spcAft>
              <a:defRPr sz="1100" b="1">
                <a:solidFill>
                  <a:srgbClr val="134074"/>
                </a:solidFill>
              </a:defRPr>
            </a:pPr>
            <a:r>
              <a:t>• Kepatuhan Sertifikasi Pelanggan: </a:t>
            </a:r>
          </a:p>
          <a:p>
            <a:pPr>
              <a:spcAft>
                <a:spcPts val="1000"/>
              </a:spcAft>
              <a:defRPr sz="1000">
                <a:solidFill>
                  <a:srgbClr val="1E293B"/>
                </a:solidFill>
              </a:defRPr>
            </a:pPr>
            <a:r>
              <a:t>COA adalah legalitas mutu wajib bagi customer (terutama industri food contact / farmasi). Tanpa COA, fisik barang tidak dapat diterima di pabrik customer.</a:t>
            </a:r>
          </a:p>
          <a:p>
            <a:pPr>
              <a:spcAft>
                <a:spcPts val="200"/>
              </a:spcAft>
              <a:defRPr sz="1100" b="1">
                <a:solidFill>
                  <a:srgbClr val="134074"/>
                </a:solidFill>
              </a:defRPr>
            </a:pPr>
            <a:r>
              <a:t>• Keterikatan dengan Armada Pengiriman: </a:t>
            </a:r>
          </a:p>
          <a:p>
            <a:pPr>
              <a:spcAft>
                <a:spcPts val="1000"/>
              </a:spcAft>
              <a:defRPr sz="1000">
                <a:solidFill>
                  <a:srgbClr val="1E293B"/>
                </a:solidFill>
              </a:defRPr>
            </a:pPr>
            <a:r>
              <a:t>Cetak COA berada pada jalur kritis sebelum Post Goods Issue (PGI). Keterlambatan COA langsung memicu bottleneck timbangan &amp; penumpukan armada truk.</a:t>
            </a:r>
          </a:p>
          <a:p>
            <a:pPr>
              <a:spcAft>
                <a:spcPts val="200"/>
              </a:spcAft>
              <a:defRPr sz="1100" b="1">
                <a:solidFill>
                  <a:srgbClr val="134074"/>
                </a:solidFill>
              </a:defRPr>
            </a:pPr>
            <a:r>
              <a:t>• Otomasi Menembus Batas QC Lab: </a:t>
            </a:r>
          </a:p>
          <a:p>
            <a:pPr>
              <a:spcAft>
                <a:spcPts val="1000"/>
              </a:spcAft>
              <a:defRPr sz="1000">
                <a:solidFill>
                  <a:srgbClr val="1E293B"/>
                </a:solidFill>
              </a:defRPr>
            </a:pPr>
            <a:r>
              <a:t>Uji lab tertentu (MVTR/OTR) membutuhkan masa inkubasi. Program ZQMI_COA dirancang dengan logika fallback agar SLA pengiriman tetap tercapai tanpa mengorbankan integritas data.</a:t>
            </a:r>
          </a:p>
          <a:p>
            <a:pPr>
              <a:spcAft>
                <a:spcPts val="200"/>
              </a:spcAft>
              <a:defRPr sz="1100" b="1">
                <a:solidFill>
                  <a:srgbClr val="134074"/>
                </a:solidFill>
              </a:defRPr>
            </a:pPr>
            <a:r>
              <a:t>• Arsitektur Smart Forms Modular: </a:t>
            </a:r>
          </a:p>
          <a:p>
            <a:pPr>
              <a:spcAft>
                <a:spcPts val="1000"/>
              </a:spcAft>
              <a:defRPr sz="1000">
                <a:solidFill>
                  <a:srgbClr val="1E293B"/>
                </a:solidFill>
              </a:defRPr>
            </a:pPr>
            <a:r>
              <a:t>Pemisahan sertifikat (Page 1) dan batch list dinamis (Page 2) menjamin fleksibilitas jumlah kolom tanpa mengacaukan layout cetak.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000" b="1">
                <a:solidFill>
                  <a:srgbClr val="00A896"/>
                </a:solidFill>
              </a:defRPr>
            </a:pPr>
            <a:r>
              <a:t>SERVICE LEVEL AGREEMENT (SLA) FRAMEWORK</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B2545"/>
                </a:solidFill>
              </a:defRPr>
            </a:pPr>
            <a:r>
              <a:t>Pilar 1: SLA Operasional &amp; Bisnis (QA Delivery)</a:t>
            </a:r>
          </a:p>
        </p:txBody>
      </p:sp>
      <p:sp>
        <p:nvSpPr>
          <p:cNvPr id="4" name="Rounded Rectangle 3"/>
          <p:cNvSpPr/>
          <p:nvPr/>
        </p:nvSpPr>
        <p:spPr>
          <a:xfrm>
            <a:off x="731520" y="1371600"/>
            <a:ext cx="3429000" cy="48463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0A896"/>
                </a:solidFill>
              </a:defRPr>
            </a:pPr>
            <a:r>
              <a:t>TARGET WAKTU PENERBITAN</a:t>
            </a:r>
          </a:p>
          <a:p>
            <a:pPr>
              <a:spcAft>
                <a:spcPts val="1400"/>
              </a:spcAft>
              <a:defRPr sz="1100" b="1">
                <a:solidFill>
                  <a:srgbClr val="0B2545"/>
                </a:solidFill>
              </a:defRPr>
            </a:pPr>
            <a:r>
              <a:t>Tepat Waktu Sebelum Truk Berangkat</a:t>
            </a:r>
          </a:p>
          <a:p>
            <a:pPr>
              <a:spcAft>
                <a:spcPts val="200"/>
              </a:spcAft>
              <a:defRPr sz="1050" b="1">
                <a:solidFill>
                  <a:srgbClr val="134074"/>
                </a:solidFill>
              </a:defRPr>
            </a:pPr>
            <a:r>
              <a:t>• Cut-Off Wajib:</a:t>
            </a:r>
          </a:p>
          <a:p>
            <a:pPr>
              <a:spcAft>
                <a:spcPts val="1000"/>
              </a:spcAft>
              <a:defRPr sz="950">
                <a:solidFill>
                  <a:srgbClr val="1E293B"/>
                </a:solidFill>
              </a:defRPr>
            </a:pPr>
            <a:r>
              <a:t>COA harus berhasil dicetak sebelum proses Post Goods Issue (PGI) dan dokumen Surat Jalan final diserahkan ke transporter.</a:t>
            </a:r>
          </a:p>
          <a:p>
            <a:pPr>
              <a:spcAft>
                <a:spcPts val="200"/>
              </a:spcAft>
              <a:defRPr sz="1050" b="1">
                <a:solidFill>
                  <a:srgbClr val="134074"/>
                </a:solidFill>
              </a:defRPr>
            </a:pPr>
            <a:r>
              <a:t>• Lead Time Ideal:</a:t>
            </a:r>
          </a:p>
          <a:p>
            <a:pPr>
              <a:spcAft>
                <a:spcPts val="1000"/>
              </a:spcAft>
              <a:defRPr sz="950">
                <a:solidFill>
                  <a:srgbClr val="1E293B"/>
                </a:solidFill>
              </a:defRPr>
            </a:pPr>
            <a:r>
              <a:t>Maksimal 5 - 10 menit setelah nomor Delivery Order (DO) dan picking batch roll selesai diinput di sistem.</a:t>
            </a:r>
          </a:p>
          <a:p>
            <a:pPr>
              <a:spcAft>
                <a:spcPts val="200"/>
              </a:spcAft>
              <a:defRPr sz="1050" b="1">
                <a:solidFill>
                  <a:srgbClr val="134074"/>
                </a:solidFill>
              </a:defRPr>
            </a:pPr>
            <a:r>
              <a:t>• Zero Dispatch Delay:</a:t>
            </a:r>
          </a:p>
          <a:p>
            <a:pPr>
              <a:spcAft>
                <a:spcPts val="1000"/>
              </a:spcAft>
              <a:defRPr sz="950">
                <a:solidFill>
                  <a:srgbClr val="1E293B"/>
                </a:solidFill>
              </a:defRPr>
            </a:pPr>
            <a:r>
              <a:t>Truk pengiriman tidak boleh tertahan di gate pabrik atau timbangan hanya karena menunggu lembar sertifikat COA.</a:t>
            </a:r>
          </a:p>
        </p:txBody>
      </p:sp>
      <p:sp>
        <p:nvSpPr>
          <p:cNvPr id="5" name="Rounded Rectangle 4"/>
          <p:cNvSpPr/>
          <p:nvPr/>
        </p:nvSpPr>
        <p:spPr>
          <a:xfrm>
            <a:off x="4379976" y="1371600"/>
            <a:ext cx="3429000" cy="48463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0A896"/>
                </a:solidFill>
              </a:defRPr>
            </a:pPr>
            <a:r>
              <a:t>TANTANGAN HASIL QC LAB</a:t>
            </a:r>
          </a:p>
          <a:p>
            <a:pPr>
              <a:spcAft>
                <a:spcPts val="1400"/>
              </a:spcAft>
              <a:defRPr sz="1100" b="1">
                <a:solidFill>
                  <a:srgbClr val="0B2545"/>
                </a:solidFill>
              </a:defRPr>
            </a:pPr>
            <a:r>
              <a:t>Pengujian dengan Waktu Tunggu Lama</a:t>
            </a:r>
          </a:p>
          <a:p>
            <a:pPr>
              <a:spcAft>
                <a:spcPts val="200"/>
              </a:spcAft>
              <a:defRPr sz="1050" b="1">
                <a:solidFill>
                  <a:srgbClr val="134074"/>
                </a:solidFill>
              </a:defRPr>
            </a:pPr>
            <a:r>
              <a:t>• Sifat Uji Fisik vs Barrier:</a:t>
            </a:r>
          </a:p>
          <a:p>
            <a:pPr>
              <a:spcAft>
                <a:spcPts val="1000"/>
              </a:spcAft>
              <a:defRPr sz="950">
                <a:solidFill>
                  <a:srgbClr val="1E293B"/>
                </a:solidFill>
              </a:defRPr>
            </a:pPr>
            <a:r>
              <a:t>Pengujian fisik film (Thickness, Tensile, Haze) cepat. Namun uji Barrier (MVTR/OTR) membutuhkan masa inkubasi lab.</a:t>
            </a:r>
          </a:p>
          <a:p>
            <a:pPr>
              <a:spcAft>
                <a:spcPts val="200"/>
              </a:spcAft>
              <a:defRPr sz="1050" b="1">
                <a:solidFill>
                  <a:srgbClr val="134074"/>
                </a:solidFill>
              </a:defRPr>
            </a:pPr>
            <a:r>
              <a:t>• Risiko Tertahan di Laborat:</a:t>
            </a:r>
          </a:p>
          <a:p>
            <a:pPr>
              <a:spcAft>
                <a:spcPts val="1000"/>
              </a:spcAft>
              <a:defRPr sz="950">
                <a:solidFill>
                  <a:srgbClr val="1E293B"/>
                </a:solidFill>
              </a:defRPr>
            </a:pPr>
            <a:r>
              <a:t>Jika COA menunggu uji lot delivery secara murni, armada pengiriman akan tertahan berjam-jam bahkan berhari-hari.</a:t>
            </a:r>
          </a:p>
          <a:p>
            <a:pPr>
              <a:spcAft>
                <a:spcPts val="200"/>
              </a:spcAft>
              <a:defRPr sz="1050" b="1">
                <a:solidFill>
                  <a:srgbClr val="134074"/>
                </a:solidFill>
              </a:defRPr>
            </a:pPr>
            <a:r>
              <a:t>• Solusi Kebijakan Mutu:</a:t>
            </a:r>
          </a:p>
          <a:p>
            <a:pPr>
              <a:spcAft>
                <a:spcPts val="1000"/>
              </a:spcAft>
              <a:defRPr sz="950">
                <a:solidFill>
                  <a:srgbClr val="1E293B"/>
                </a:solidFill>
              </a:defRPr>
            </a:pPr>
            <a:r>
              <a:t>Penerapan aturan representatif: batch satu order produksi diizinkan saling mewariskan hasil pengujian karakteristik tertentu.</a:t>
            </a:r>
          </a:p>
        </p:txBody>
      </p:sp>
      <p:sp>
        <p:nvSpPr>
          <p:cNvPr id="6" name="Rounded Rectangle 5"/>
          <p:cNvSpPr/>
          <p:nvPr/>
        </p:nvSpPr>
        <p:spPr>
          <a:xfrm>
            <a:off x="8028432" y="1371600"/>
            <a:ext cx="3429000" cy="48463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0A896"/>
                </a:solidFill>
              </a:defRPr>
            </a:pPr>
            <a:r>
              <a:t>DAMPAK JIKA SLA TERLANGGAR</a:t>
            </a:r>
          </a:p>
          <a:p>
            <a:pPr>
              <a:spcAft>
                <a:spcPts val="1400"/>
              </a:spcAft>
              <a:defRPr sz="1100" b="1">
                <a:solidFill>
                  <a:srgbClr val="0B2545"/>
                </a:solidFill>
              </a:defRPr>
            </a:pPr>
            <a:r>
              <a:t>Konsekuensi Operasional &amp; Komersial</a:t>
            </a:r>
          </a:p>
          <a:p>
            <a:pPr>
              <a:spcAft>
                <a:spcPts val="200"/>
              </a:spcAft>
              <a:defRPr sz="1050" b="1">
                <a:solidFill>
                  <a:srgbClr val="134074"/>
                </a:solidFill>
              </a:defRPr>
            </a:pPr>
            <a:r>
              <a:t>• Bottleneck Logistik:</a:t>
            </a:r>
          </a:p>
          <a:p>
            <a:pPr>
              <a:spcAft>
                <a:spcPts val="1000"/>
              </a:spcAft>
              <a:defRPr sz="950">
                <a:solidFill>
                  <a:srgbClr val="1E293B"/>
                </a:solidFill>
              </a:defRPr>
            </a:pPr>
            <a:r>
              <a:t>Antrean armada truk di area loading dock dan jembatan timbangan meningkat tajam.</a:t>
            </a:r>
          </a:p>
          <a:p>
            <a:pPr>
              <a:spcAft>
                <a:spcPts val="200"/>
              </a:spcAft>
              <a:defRPr sz="1050" b="1">
                <a:solidFill>
                  <a:srgbClr val="134074"/>
                </a:solidFill>
              </a:defRPr>
            </a:pPr>
            <a:r>
              <a:t>• Demurrage &amp; Denda Logistik:</a:t>
            </a:r>
          </a:p>
          <a:p>
            <a:pPr>
              <a:spcAft>
                <a:spcPts val="1000"/>
              </a:spcAft>
              <a:defRPr sz="950">
                <a:solidFill>
                  <a:srgbClr val="1E293B"/>
                </a:solidFill>
              </a:defRPr>
            </a:pPr>
            <a:r>
              <a:t>Risiko timbulnya klaim biaya tunggu armada transporter pihak ketiga (demurrage cost).</a:t>
            </a:r>
          </a:p>
          <a:p>
            <a:pPr>
              <a:spcAft>
                <a:spcPts val="200"/>
              </a:spcAft>
              <a:defRPr sz="1050" b="1">
                <a:solidFill>
                  <a:srgbClr val="134074"/>
                </a:solidFill>
              </a:defRPr>
            </a:pPr>
            <a:r>
              <a:t>• Penolakan Kiriman (Reject Gate):</a:t>
            </a:r>
          </a:p>
          <a:p>
            <a:pPr>
              <a:spcAft>
                <a:spcPts val="1000"/>
              </a:spcAft>
              <a:defRPr sz="950">
                <a:solidFill>
                  <a:srgbClr val="1E293B"/>
                </a:solidFill>
              </a:defRPr>
            </a:pPr>
            <a:r>
              <a:t>Customer menolak membongkar muatan di gudang mereka jika fisik lembar COA tidak menyertai surat jalan.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000" b="1">
                <a:solidFill>
                  <a:srgbClr val="00A896"/>
                </a:solidFill>
              </a:defRPr>
            </a:pPr>
            <a:r>
              <a:t>SERVICE LEVEL AGREEMENT (SLA) FRAMEWORK</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B2545"/>
                </a:solidFill>
              </a:defRPr>
            </a:pPr>
            <a:r>
              <a:t>Logika Otomatis ZQMI_COA untuk Menyelamatkan SLA Bisnis</a:t>
            </a:r>
          </a:p>
        </p:txBody>
      </p:sp>
      <p:sp>
        <p:nvSpPr>
          <p:cNvPr id="4" name="Rounded Rectangle 3"/>
          <p:cNvSpPr/>
          <p:nvPr/>
        </p:nvSpPr>
        <p:spPr>
          <a:xfrm>
            <a:off x="731520" y="137160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1. JR Average Fallback (GET_JR_AVG)</a:t>
            </a:r>
          </a:p>
          <a:p>
            <a:pPr>
              <a:spcAft>
                <a:spcPts val="800"/>
              </a:spcAft>
              <a:defRPr sz="1050" b="1">
                <a:solidFill>
                  <a:srgbClr val="00A896"/>
                </a:solidFill>
              </a:defRPr>
            </a:pPr>
            <a:r>
              <a:t>Solusi Uji Representatif Satu Production Order</a:t>
            </a:r>
          </a:p>
          <a:p>
            <a:pPr>
              <a:defRPr sz="1000">
                <a:solidFill>
                  <a:srgbClr val="1E293B"/>
                </a:solidFill>
              </a:defRPr>
            </a:pPr>
            <a:r>
              <a:t>Ketika roll delivery belum memiliki hasil uji lab sendiri, program mencari batch lain dalam Production Order (AUFNR) yang sama dan menghitung nilai rata-rata dari roll representatif. COA tidak tertahan menunggu pengujian ulang.</a:t>
            </a:r>
          </a:p>
        </p:txBody>
      </p:sp>
      <p:sp>
        <p:nvSpPr>
          <p:cNvPr id="5" name="Rounded Rectangle 4"/>
          <p:cNvSpPr/>
          <p:nvPr/>
        </p:nvSpPr>
        <p:spPr>
          <a:xfrm>
            <a:off x="6217920" y="137160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2. SR &amp; JR Sibling Fallback</a:t>
            </a:r>
          </a:p>
          <a:p>
            <a:pPr>
              <a:spcAft>
                <a:spcPts val="800"/>
              </a:spcAft>
              <a:defRPr sz="1050" b="1">
                <a:solidFill>
                  <a:srgbClr val="00A896"/>
                </a:solidFill>
              </a:defRPr>
            </a:pPr>
            <a:r>
              <a:t>Pengambilan Hasil dari Saudara Sekandung Roll</a:t>
            </a:r>
          </a:p>
          <a:p>
            <a:pPr>
              <a:defRPr sz="1000">
                <a:solidFill>
                  <a:srgbClr val="1E293B"/>
                </a:solidFill>
              </a:defRPr>
            </a:pPr>
            <a:r>
              <a:t>Jika batch delivery tidak dibuatkan inspection lot khusus di level Slit Roll (SR), program melacak roll sekandung (sibling) dari Jumbo Roll (JR) induk yang sama. Result uji yang sah langsung dipinjam secara otomatis.</a:t>
            </a:r>
          </a:p>
        </p:txBody>
      </p:sp>
      <p:sp>
        <p:nvSpPr>
          <p:cNvPr id="6" name="Rounded Rectangle 5"/>
          <p:cNvSpPr/>
          <p:nvPr/>
        </p:nvSpPr>
        <p:spPr>
          <a:xfrm>
            <a:off x="731520" y="393192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3. Change Grade Fallback Wrapper</a:t>
            </a:r>
          </a:p>
          <a:p>
            <a:pPr>
              <a:spcAft>
                <a:spcPts val="800"/>
              </a:spcAft>
              <a:defRPr sz="1050" b="1">
                <a:solidFill>
                  <a:srgbClr val="00A896"/>
                </a:solidFill>
              </a:defRPr>
            </a:pPr>
            <a:r>
              <a:t>Bypass Pemutusan Rantai Re-Batching</a:t>
            </a:r>
          </a:p>
          <a:p>
            <a:pPr>
              <a:defRPr sz="1000">
                <a:solidFill>
                  <a:srgbClr val="1E293B"/>
                </a:solidFill>
              </a:defRPr>
            </a:pPr>
            <a:r>
              <a:t>Proses Change Grade sering memutus relasi batch standar. Logic ZQMI_COA memanfaatkan tabel ZBATCHISTORY dan movement MSEG 101/261 untuk melompati titik Change Grade sampai menemukan inspection lot induk yang valid.</a:t>
            </a:r>
          </a:p>
        </p:txBody>
      </p:sp>
      <p:sp>
        <p:nvSpPr>
          <p:cNvPr id="7" name="Rounded Rectangle 6"/>
          <p:cNvSpPr/>
          <p:nvPr/>
        </p:nvSpPr>
        <p:spPr>
          <a:xfrm>
            <a:off x="6217920" y="393192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4. Generic vs Customer Mapping (ZMAP_COA)</a:t>
            </a:r>
          </a:p>
          <a:p>
            <a:pPr>
              <a:spcAft>
                <a:spcPts val="800"/>
              </a:spcAft>
              <a:defRPr sz="1050" b="1">
                <a:solidFill>
                  <a:srgbClr val="00A896"/>
                </a:solidFill>
              </a:defRPr>
            </a:pPr>
            <a:r>
              <a:t>Jaminan Kelengkapan Spesifikasi Tanpa Error</a:t>
            </a:r>
          </a:p>
          <a:p>
            <a:pPr>
              <a:defRPr sz="1000">
                <a:solidFill>
                  <a:srgbClr val="1E293B"/>
                </a:solidFill>
              </a:defRPr>
            </a:pPr>
            <a:r>
              <a:t>Jika konfigurasi spesifik customer belum tersedia atau ditandai DELETION = 'X', sistem secara cerdas melakukan fallback ke generic material mapping. COA tetap dapat dicetak lengkap tanpa perlu intervensi koding.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000" b="1">
                <a:solidFill>
                  <a:srgbClr val="00A896"/>
                </a:solidFill>
              </a:defRPr>
            </a:pPr>
            <a:r>
              <a:t>SERVICE LEVEL AGREEMENT (SLA) FRAMEWORK</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B2545"/>
                </a:solidFill>
              </a:defRPr>
            </a:pPr>
            <a:r>
              <a:t>Pilar 2: SLA Kinerja Teknis Program (Technical Runtime)</a:t>
            </a:r>
          </a:p>
        </p:txBody>
      </p:sp>
      <p:sp>
        <p:nvSpPr>
          <p:cNvPr id="4" name="Rounded Rectangle 3"/>
          <p:cNvSpPr/>
          <p:nvPr/>
        </p:nvSpPr>
        <p:spPr>
          <a:xfrm>
            <a:off x="731520" y="1371600"/>
            <a:ext cx="10698480" cy="91440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A896"/>
                </a:solidFill>
              </a:defRPr>
            </a:pPr>
            <a:r>
              <a:t>TARGET RESPONSE TIME: &lt; 3 - 5 DETIK PER NOMOR DELIVERY (DO)</a:t>
            </a:r>
          </a:p>
          <a:p>
            <a:pPr>
              <a:defRPr sz="1100">
                <a:solidFill>
                  <a:srgbClr val="FFFFFF"/>
                </a:solidFill>
              </a:defRPr>
            </a:pPr>
            <a:r>
              <a:t>Dirancang untuk interaksi online staf QA/Gudang di T-Code ZQM002/ZQM003 tanpa degradasi performa database SAP.</a:t>
            </a:r>
          </a:p>
        </p:txBody>
      </p:sp>
      <p:sp>
        <p:nvSpPr>
          <p:cNvPr id="5" name="Rounded Rectangle 4"/>
          <p:cNvSpPr/>
          <p:nvPr/>
        </p:nvSpPr>
        <p:spPr>
          <a:xfrm>
            <a:off x="731520" y="2468880"/>
            <a:ext cx="3429000" cy="3749039"/>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200" b="1">
                <a:solidFill>
                  <a:srgbClr val="00A896"/>
                </a:solidFill>
              </a:defRPr>
            </a:pPr>
            <a:r>
              <a:t>MEMORY CACHING</a:t>
            </a:r>
          </a:p>
          <a:p>
            <a:pPr>
              <a:spcAft>
                <a:spcPts val="1000"/>
              </a:spcAft>
              <a:defRPr sz="1100" b="1">
                <a:solidFill>
                  <a:srgbClr val="0B2545"/>
                </a:solidFill>
              </a:defRPr>
            </a:pPr>
            <a:r>
              <a:t>GT_TRACE_DATA Table Buffer</a:t>
            </a:r>
          </a:p>
          <a:p>
            <a:pPr>
              <a:defRPr sz="1000">
                <a:solidFill>
                  <a:srgbClr val="1E293B"/>
                </a:solidFill>
              </a:defRPr>
            </a:pPr>
            <a:r>
              <a:t>Dalam 1 DO sering terdapat puluhan roll dari induk (mother roll) yang sama.</a:t>
            </a:r>
            <a:br/>
            <a:br/>
            <a:r>
              <a:t>• Optimasi: Program menyimpan silsilah batch di internal table GT_TRACE_DATA.</a:t>
            </a:r>
            <a:br/>
            <a:r>
              <a:t>• Dampak: Query trace hanya dieksekusi 1 kali per mother roll, menghemat 80% beban query database.</a:t>
            </a:r>
          </a:p>
        </p:txBody>
      </p:sp>
      <p:sp>
        <p:nvSpPr>
          <p:cNvPr id="6" name="Rounded Rectangle 5"/>
          <p:cNvSpPr/>
          <p:nvPr/>
        </p:nvSpPr>
        <p:spPr>
          <a:xfrm>
            <a:off x="4379976" y="2468880"/>
            <a:ext cx="3429000" cy="3749039"/>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200" b="1">
                <a:solidFill>
                  <a:srgbClr val="00A896"/>
                </a:solidFill>
              </a:defRPr>
            </a:pPr>
            <a:r>
              <a:t>BULK CLASSIFICATION</a:t>
            </a:r>
          </a:p>
          <a:p>
            <a:pPr>
              <a:spcAft>
                <a:spcPts val="1000"/>
              </a:spcAft>
              <a:defRPr sz="1100" b="1">
                <a:solidFill>
                  <a:srgbClr val="0B2545"/>
                </a:solidFill>
              </a:defRPr>
            </a:pPr>
            <a:r>
              <a:t>FOR ALL ENTRIES (AUSP / INOB)</a:t>
            </a:r>
          </a:p>
          <a:p>
            <a:pPr>
              <a:defRPr sz="1000">
                <a:solidFill>
                  <a:srgbClr val="1E293B"/>
                </a:solidFill>
              </a:defRPr>
            </a:pPr>
            <a:r>
              <a:t>Nomor Roll (ZZNOMORROLL) dan Tipe Roll (ZZCODE) tersimpan di klasifikasi batch MCH1/AUSP.</a:t>
            </a:r>
            <a:br/>
            <a:br/>
            <a:r>
              <a:t>• Optimasi: ZQMI_COA mengumpulkan semua batch lalu membaca tabel AUSP secara massal (bulk read).</a:t>
            </a:r>
            <a:br/>
            <a:r>
              <a:t>• Dampak: Mencegah 'SELECT in loop' yang menjadi sumber kelambatan program legacy.</a:t>
            </a:r>
          </a:p>
        </p:txBody>
      </p:sp>
      <p:sp>
        <p:nvSpPr>
          <p:cNvPr id="7" name="Rounded Rectangle 6"/>
          <p:cNvSpPr/>
          <p:nvPr/>
        </p:nvSpPr>
        <p:spPr>
          <a:xfrm>
            <a:off x="8028432" y="2468880"/>
            <a:ext cx="3429000" cy="3749039"/>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200" b="1">
                <a:solidFill>
                  <a:srgbClr val="00A896"/>
                </a:solidFill>
              </a:defRPr>
            </a:pPr>
            <a:r>
              <a:t>IN-MEMORY FILTERING</a:t>
            </a:r>
          </a:p>
          <a:p>
            <a:pPr>
              <a:spcAft>
                <a:spcPts val="1000"/>
              </a:spcAft>
              <a:defRPr sz="1100" b="1">
                <a:solidFill>
                  <a:srgbClr val="0B2545"/>
                </a:solidFill>
              </a:defRPr>
            </a:pPr>
            <a:r>
              <a:t>Penyaringan Reversal Dokumen</a:t>
            </a:r>
          </a:p>
          <a:p>
            <a:pPr>
              <a:defRPr sz="1000">
                <a:solidFill>
                  <a:srgbClr val="1E293B"/>
                </a:solidFill>
              </a:defRPr>
            </a:pPr>
            <a:r>
              <a:t>Pergerakan barang batal (movement 102/262/902) harus dieliminasi agar tidak memicu lot salah.</a:t>
            </a:r>
            <a:br/>
            <a:br/>
            <a:r>
              <a:t>• Optimasi: Seluruh pasangan reversal dipasangkan dan dibersihkan di memori kerja ABAP.</a:t>
            </a:r>
            <a:br/>
            <a:r>
              <a:t>• Dampak: Mengurangi traversal relasi tabel MSEG/MKPF secara drastis.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000" b="1">
                <a:solidFill>
                  <a:srgbClr val="00A896"/>
                </a:solidFill>
              </a:defRPr>
            </a:pPr>
            <a:r>
              <a:t>SERVICE LEVEL AGREEMENT (SLA) FRAMEWORK</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B2545"/>
                </a:solidFill>
              </a:defRPr>
            </a:pPr>
            <a:r>
              <a:t>Pilar 3: SLA IT Support &amp; Manajemen Insiden</a:t>
            </a:r>
          </a:p>
        </p:txBody>
      </p:sp>
      <p:sp>
        <p:nvSpPr>
          <p:cNvPr id="4" name="Rounded Rectangle 3"/>
          <p:cNvSpPr/>
          <p:nvPr/>
        </p:nvSpPr>
        <p:spPr>
          <a:xfrm>
            <a:off x="731520" y="1371600"/>
            <a:ext cx="10698480" cy="146304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0B2545"/>
                </a:solidFill>
              </a:defRPr>
            </a:pPr>
            <a:r>
              <a:t>PRIORITY 1: CRITICAL (SHOWSTOPPER)</a:t>
            </a:r>
          </a:p>
          <a:p>
            <a:pPr>
              <a:spcAft>
                <a:spcPts val="400"/>
              </a:spcAft>
              <a:defRPr sz="1100" b="1">
                <a:solidFill>
                  <a:srgbClr val="00A896"/>
                </a:solidFill>
              </a:defRPr>
            </a:pPr>
            <a:r>
              <a:t>TARGET SLA: &lt; 15 Menit Respon | &lt; 2 Jam Resolusi</a:t>
            </a:r>
          </a:p>
          <a:p>
            <a:pPr>
              <a:defRPr sz="950">
                <a:solidFill>
                  <a:srgbClr val="1E293B"/>
                </a:solidFill>
              </a:defRPr>
            </a:pPr>
            <a:r>
              <a:t>Kondisi: Program Short Dump (ST22), Spool printer gagal diproses, atau seluruh DO tidak dapat mencetak COA saat proses muat truk sedang berlangsung.</a:t>
            </a:r>
            <a:br/>
            <a:r>
              <a:t>Tindakan: On-call ABAP &amp; Basis Consultant langsung melakukan investigasi trace dan perbaikan darurat.</a:t>
            </a:r>
          </a:p>
        </p:txBody>
      </p:sp>
      <p:sp>
        <p:nvSpPr>
          <p:cNvPr id="5" name="Rounded Rectangle 4"/>
          <p:cNvSpPr/>
          <p:nvPr/>
        </p:nvSpPr>
        <p:spPr>
          <a:xfrm>
            <a:off x="731520" y="3017520"/>
            <a:ext cx="10698480" cy="146304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0B2545"/>
                </a:solidFill>
              </a:defRPr>
            </a:pPr>
            <a:r>
              <a:t>PRIORITY 2: HIGH (DATA INTEGRITY)</a:t>
            </a:r>
          </a:p>
          <a:p>
            <a:pPr>
              <a:spcAft>
                <a:spcPts val="400"/>
              </a:spcAft>
              <a:defRPr sz="1100" b="1">
                <a:solidFill>
                  <a:srgbClr val="00A896"/>
                </a:solidFill>
              </a:defRPr>
            </a:pPr>
            <a:r>
              <a:t>TARGET SLA: &lt; 1 Jam Respon | &lt; 8 Jam Resolusi</a:t>
            </a:r>
          </a:p>
          <a:p>
            <a:pPr>
              <a:defRPr sz="950">
                <a:solidFill>
                  <a:srgbClr val="1E293B"/>
                </a:solidFill>
              </a:defRPr>
            </a:pPr>
            <a:r>
              <a:t>Kondisi: Karakteristik MIC tertentu bernilai strip (-) padahal lot inspeksi tersedia, atau salah satu customer tidak membaca mapping khusus.</a:t>
            </a:r>
            <a:br/>
            <a:r>
              <a:t>Tindakan: Verifikasi relasi batch ZBATCHISTORY, perbaikan record QAMV/QAMR, atau sinkronisasi data ZMAP_COA.</a:t>
            </a:r>
          </a:p>
        </p:txBody>
      </p:sp>
      <p:sp>
        <p:nvSpPr>
          <p:cNvPr id="6" name="Rounded Rectangle 5"/>
          <p:cNvSpPr/>
          <p:nvPr/>
        </p:nvSpPr>
        <p:spPr>
          <a:xfrm>
            <a:off x="731520" y="4663440"/>
            <a:ext cx="10698480" cy="146304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0B2545"/>
                </a:solidFill>
              </a:defRPr>
            </a:pPr>
            <a:r>
              <a:t>PRIORITY 3: MEDIUM (CHANGE REQUEST / SERVICE)</a:t>
            </a:r>
          </a:p>
          <a:p>
            <a:pPr>
              <a:spcAft>
                <a:spcPts val="400"/>
              </a:spcAft>
              <a:defRPr sz="1100" b="1">
                <a:solidFill>
                  <a:srgbClr val="00A896"/>
                </a:solidFill>
              </a:defRPr>
            </a:pPr>
            <a:r>
              <a:t>TARGET SLA: &lt; 4 Jam Respon | 2 - 3 Hari Kerja</a:t>
            </a:r>
          </a:p>
          <a:p>
            <a:pPr>
              <a:defRPr sz="950">
                <a:solidFill>
                  <a:srgbClr val="1E293B"/>
                </a:solidFill>
              </a:defRPr>
            </a:pPr>
            <a:r>
              <a:t>Kondisi: Permintaan template Smart Forms baru (penambahan kolom &gt; 14), penambahan master mapping MIC baru, atau penyesuaian teks deskripsi.</a:t>
            </a:r>
            <a:br/>
            <a:r>
              <a:t>Tindakan: Melalui siklus rilis DEV -&gt; QAS -&gt; UAT User -&gt; Transport ke PRD sesuai prosedur resmi.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000" b="1">
                <a:solidFill>
                  <a:srgbClr val="00A896"/>
                </a:solidFill>
              </a:defRPr>
            </a:pPr>
            <a:r>
              <a:t>SERVICE LEVEL AGREEMENT (SLA) FRAMEWORK</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B2545"/>
                </a:solidFill>
              </a:defRPr>
            </a:pPr>
            <a:r>
              <a:t>Klarifikasi Istilah: Membedakan SLA dengan Istilah Terkait</a:t>
            </a:r>
          </a:p>
        </p:txBody>
      </p:sp>
      <p:sp>
        <p:nvSpPr>
          <p:cNvPr id="4" name="Rounded Rectangle 3"/>
          <p:cNvSpPr/>
          <p:nvPr/>
        </p:nvSpPr>
        <p:spPr>
          <a:xfrm>
            <a:off x="731520" y="1371600"/>
            <a:ext cx="3429000" cy="48463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0A896"/>
                </a:solidFill>
              </a:defRPr>
            </a:pPr>
            <a:r>
              <a:t>SLED / BBD</a:t>
            </a:r>
          </a:p>
          <a:p>
            <a:pPr>
              <a:spcAft>
                <a:spcPts val="1400"/>
              </a:spcAft>
              <a:defRPr sz="1100" b="1">
                <a:solidFill>
                  <a:srgbClr val="0B2545"/>
                </a:solidFill>
              </a:defRPr>
            </a:pPr>
            <a:r>
              <a:t>Shelf Life Expiration Date</a:t>
            </a:r>
          </a:p>
          <a:p>
            <a:pPr>
              <a:defRPr sz="1000">
                <a:solidFill>
                  <a:srgbClr val="1E293B"/>
                </a:solidFill>
              </a:defRPr>
            </a:pPr>
            <a:r>
              <a:t>• Konsep: Masa kedaluwarsa batch produk (field MCH1-VFDAT).</a:t>
            </a:r>
            <a:br/>
            <a:r>
              <a:t>• Relevansi COA: Sering divalidasi apakah produk masih dalam masa edar layak saat diserahkan ke pelanggan.</a:t>
            </a:r>
            <a:br/>
            <a:r>
              <a:t>• Bukan SLA: SLED adalah parameter kualitas batch, sedangkan SLA adalah target waktu penyelesaian layanan.</a:t>
            </a:r>
          </a:p>
        </p:txBody>
      </p:sp>
      <p:sp>
        <p:nvSpPr>
          <p:cNvPr id="5" name="Rounded Rectangle 4"/>
          <p:cNvSpPr/>
          <p:nvPr/>
        </p:nvSpPr>
        <p:spPr>
          <a:xfrm>
            <a:off x="4379976" y="1371600"/>
            <a:ext cx="3429000" cy="48463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0A896"/>
                </a:solidFill>
              </a:defRPr>
            </a:pPr>
            <a:r>
              <a:t>SLOC</a:t>
            </a:r>
          </a:p>
          <a:p>
            <a:pPr>
              <a:spcAft>
                <a:spcPts val="1400"/>
              </a:spcAft>
              <a:defRPr sz="1100" b="1">
                <a:solidFill>
                  <a:srgbClr val="0B2545"/>
                </a:solidFill>
              </a:defRPr>
            </a:pPr>
            <a:r>
              <a:t>Storage Location Gudang</a:t>
            </a:r>
          </a:p>
          <a:p>
            <a:pPr>
              <a:defRPr sz="1000">
                <a:solidFill>
                  <a:srgbClr val="1E293B"/>
                </a:solidFill>
              </a:defRPr>
            </a:pPr>
            <a:r>
              <a:t>• Konsep: Kode lokasi penyimpanan barang di SAP (field LIPS-LGORT / MSEG-LGORT).</a:t>
            </a:r>
            <a:br/>
            <a:r>
              <a:t>• Relevansi COA: Menentukan lokasi stok roll (misal gudang finishing vs gudang delivery).</a:t>
            </a:r>
            <a:br/>
            <a:r>
              <a:t>• Bukan SLA: SLOC adalah lokasi inventori fisik material.</a:t>
            </a:r>
          </a:p>
        </p:txBody>
      </p:sp>
      <p:sp>
        <p:nvSpPr>
          <p:cNvPr id="6" name="Rounded Rectangle 5"/>
          <p:cNvSpPr/>
          <p:nvPr/>
        </p:nvSpPr>
        <p:spPr>
          <a:xfrm>
            <a:off x="8028432" y="1371600"/>
            <a:ext cx="3429000" cy="48463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0A896"/>
                </a:solidFill>
              </a:defRPr>
            </a:pPr>
            <a:r>
              <a:t>DYNAMIC SMART FORMS</a:t>
            </a:r>
          </a:p>
          <a:p>
            <a:pPr>
              <a:spcAft>
                <a:spcPts val="1400"/>
              </a:spcAft>
              <a:defRPr sz="1100" b="1">
                <a:solidFill>
                  <a:srgbClr val="0B2545"/>
                </a:solidFill>
              </a:defRPr>
            </a:pPr>
            <a:r>
              <a:t>Arsitektur Layout 2-Halaman</a:t>
            </a:r>
          </a:p>
          <a:p>
            <a:pPr>
              <a:defRPr sz="1000">
                <a:solidFill>
                  <a:srgbClr val="1E293B"/>
                </a:solidFill>
              </a:defRPr>
            </a:pPr>
            <a:r>
              <a:t>• Konsep: Standardisasi modular pemisahan halaman cetak:</a:t>
            </a:r>
            <a:br/>
            <a:r>
              <a:t>   - Halaman 1: ZQMF_COA (Portrait - Khusus MIC pengujian).</a:t>
            </a:r>
            <a:br/>
            <a:r>
              <a:t>   - Halaman 2: ZQMF_COA_BATCH_P1..P8 (Portrait) / L9..L14 (Landscape).</a:t>
            </a:r>
            <a:br/>
            <a:r>
              <a:t>• Bukan SLA: Merupakan Standard Layout Architecture (desain teknis form cetak).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000" b="1">
                <a:solidFill>
                  <a:srgbClr val="00A896"/>
                </a:solidFill>
              </a:defRPr>
            </a:pPr>
            <a:r>
              <a:t>SERVICE LEVEL AGREEMENT (SLA) FRAMEWORK</a:t>
            </a:r>
          </a:p>
        </p:txBody>
      </p:sp>
      <p:sp>
        <p:nvSpPr>
          <p:cNvPr id="3" name="TextBox 2"/>
          <p:cNvSpPr txBox="1"/>
          <p:nvPr/>
        </p:nvSpPr>
        <p:spPr>
          <a:xfrm>
            <a:off x="731520" y="685800"/>
            <a:ext cx="10698480" cy="548640"/>
          </a:xfrm>
          <a:prstGeom prst="rect">
            <a:avLst/>
          </a:prstGeom>
          <a:noFill/>
        </p:spPr>
        <p:txBody>
          <a:bodyPr wrap="square" lIns="0" rIns="0" tIns="0" bIns="0">
            <a:spAutoFit/>
          </a:bodyPr>
          <a:lstStyle/>
          <a:p>
            <a:pPr>
              <a:defRPr sz="2200" b="1">
                <a:solidFill>
                  <a:srgbClr val="0B2545"/>
                </a:solidFill>
              </a:defRPr>
            </a:pPr>
            <a:r>
              <a:t>Rekomendasi Strategis &amp; Action Plan Manajemen</a:t>
            </a:r>
          </a:p>
        </p:txBody>
      </p:sp>
      <p:sp>
        <p:nvSpPr>
          <p:cNvPr id="4" name="Rounded Rectangle 3"/>
          <p:cNvSpPr/>
          <p:nvPr/>
        </p:nvSpPr>
        <p:spPr>
          <a:xfrm>
            <a:off x="731520" y="137160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1. Standardisasi SLA Waktu Uji QC Lab</a:t>
            </a:r>
          </a:p>
          <a:p>
            <a:pPr>
              <a:spcAft>
                <a:spcPts val="800"/>
              </a:spcAft>
              <a:defRPr sz="1050" b="1">
                <a:solidFill>
                  <a:srgbClr val="00A896"/>
                </a:solidFill>
              </a:defRPr>
            </a:pPr>
            <a:r>
              <a:t>Sinkronisasi Lead Time Produksi &amp; Input SAP</a:t>
            </a:r>
          </a:p>
          <a:p>
            <a:pPr>
              <a:defRPr sz="1000">
                <a:solidFill>
                  <a:srgbClr val="1E293B"/>
                </a:solidFill>
              </a:defRPr>
            </a:pPr>
            <a:r>
              <a:t>Menetapkan batas waktu (cut-off) input hasil uji di QA02/QA32 sebelum roll dialokasikan ke Delivery Order, sehingga ketergantungan pada nilai fallback dapat diminimalkan.</a:t>
            </a:r>
          </a:p>
        </p:txBody>
      </p:sp>
      <p:sp>
        <p:nvSpPr>
          <p:cNvPr id="5" name="Rounded Rectangle 4"/>
          <p:cNvSpPr/>
          <p:nvPr/>
        </p:nvSpPr>
        <p:spPr>
          <a:xfrm>
            <a:off x="6217920" y="137160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2. Tata Kelola Master Mapping (ZMAP_COA)</a:t>
            </a:r>
          </a:p>
          <a:p>
            <a:pPr>
              <a:spcAft>
                <a:spcPts val="800"/>
              </a:spcAft>
              <a:defRPr sz="1050" b="1">
                <a:solidFill>
                  <a:srgbClr val="00A896"/>
                </a:solidFill>
              </a:defRPr>
            </a:pPr>
            <a:r>
              <a:t>Audit Berkala Konfigurasi Customer</a:t>
            </a:r>
          </a:p>
          <a:p>
            <a:pPr>
              <a:defRPr sz="1000">
                <a:solidFill>
                  <a:srgbClr val="1E293B"/>
                </a:solidFill>
              </a:defRPr>
            </a:pPr>
            <a:r>
              <a:t>Menugaskan QA Administrator untuk meninjau secara berkala baris mapping dengan status DELETION = 'X' dan memastikan spesifikasi customer baru telah terdaftar sebelum jadwal pengiriman perdana.</a:t>
            </a:r>
          </a:p>
        </p:txBody>
      </p:sp>
      <p:sp>
        <p:nvSpPr>
          <p:cNvPr id="6" name="Rounded Rectangle 5"/>
          <p:cNvSpPr/>
          <p:nvPr/>
        </p:nvSpPr>
        <p:spPr>
          <a:xfrm>
            <a:off x="731520" y="393192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3. Monitoring Proaktif Incident Dispatch</a:t>
            </a:r>
          </a:p>
          <a:p>
            <a:pPr>
              <a:spcAft>
                <a:spcPts val="800"/>
              </a:spcAft>
              <a:defRPr sz="1050" b="1">
                <a:solidFill>
                  <a:srgbClr val="00A896"/>
                </a:solidFill>
              </a:defRPr>
            </a:pPr>
            <a:r>
              <a:t>Early Warning System Penumpukan Spool</a:t>
            </a:r>
          </a:p>
          <a:p>
            <a:pPr>
              <a:defRPr sz="1000">
                <a:solidFill>
                  <a:srgbClr val="1E293B"/>
                </a:solidFill>
              </a:defRPr>
            </a:pPr>
            <a:r>
              <a:t>Membuat health-check harian terhadap runtime ZQMI_COA dan error spool di SP01/SM21 guna mencegah insiden P1 terjadi saat jam sibuk pengiriman barang.</a:t>
            </a:r>
          </a:p>
        </p:txBody>
      </p:sp>
      <p:sp>
        <p:nvSpPr>
          <p:cNvPr id="7" name="Rounded Rectangle 6"/>
          <p:cNvSpPr/>
          <p:nvPr/>
        </p:nvSpPr>
        <p:spPr>
          <a:xfrm>
            <a:off x="6217920" y="3931920"/>
            <a:ext cx="5212080" cy="233172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
              </a:spcAft>
              <a:defRPr sz="1300" b="1">
                <a:solidFill>
                  <a:srgbClr val="0B2545"/>
                </a:solidFill>
              </a:defRPr>
            </a:pPr>
            <a:r>
              <a:t>4. Kepatuhan Standar Smart Forms Dinamis</a:t>
            </a:r>
          </a:p>
          <a:p>
            <a:pPr>
              <a:spcAft>
                <a:spcPts val="800"/>
              </a:spcAft>
              <a:defRPr sz="1050" b="1">
                <a:solidFill>
                  <a:srgbClr val="00A896"/>
                </a:solidFill>
              </a:defRPr>
            </a:pPr>
            <a:r>
              <a:t>Disiplin Arsitektur Lebar Kolom Standar Rata</a:t>
            </a:r>
          </a:p>
          <a:p>
            <a:pPr>
              <a:defRPr sz="1000">
                <a:solidFill>
                  <a:srgbClr val="1E293B"/>
                </a:solidFill>
              </a:defRPr>
            </a:pPr>
            <a:r>
              <a:t>Menjaga konsistensi konfigurasi tabel ZQM_COA_CUST_COL agar penambahan atau perubahan urutan kolom tidak merusak layout cetak portrait maupun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